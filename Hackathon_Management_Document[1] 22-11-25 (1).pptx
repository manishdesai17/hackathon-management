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5"/>
  </p:notesMasterIdLst>
  <p:sldIdLst>
    <p:sldId id="272" r:id="rId2"/>
    <p:sldId id="273" r:id="rId3"/>
    <p:sldId id="311" r:id="rId4"/>
    <p:sldId id="274" r:id="rId5"/>
    <p:sldId id="276" r:id="rId6"/>
    <p:sldId id="296" r:id="rId7"/>
    <p:sldId id="297" r:id="rId8"/>
    <p:sldId id="305" r:id="rId9"/>
    <p:sldId id="298" r:id="rId10"/>
    <p:sldId id="306" r:id="rId11"/>
    <p:sldId id="307" r:id="rId12"/>
    <p:sldId id="277" r:id="rId13"/>
    <p:sldId id="278" r:id="rId14"/>
    <p:sldId id="279" r:id="rId15"/>
    <p:sldId id="286" r:id="rId16"/>
    <p:sldId id="285" r:id="rId17"/>
    <p:sldId id="287" r:id="rId18"/>
    <p:sldId id="294" r:id="rId19"/>
    <p:sldId id="310" r:id="rId20"/>
    <p:sldId id="299" r:id="rId21"/>
    <p:sldId id="300" r:id="rId22"/>
    <p:sldId id="301" r:id="rId23"/>
    <p:sldId id="302" r:id="rId24"/>
    <p:sldId id="303" r:id="rId25"/>
    <p:sldId id="289" r:id="rId26"/>
    <p:sldId id="304" r:id="rId27"/>
    <p:sldId id="290" r:id="rId28"/>
    <p:sldId id="291" r:id="rId29"/>
    <p:sldId id="292" r:id="rId30"/>
    <p:sldId id="293" r:id="rId31"/>
    <p:sldId id="308" r:id="rId32"/>
    <p:sldId id="309" r:id="rId33"/>
    <p:sldId id="28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an parmar" userId="175a19daf6531ebf" providerId="LiveId" clId="{2460975F-5676-49DC-B4FD-E7C02D8FAD42}"/>
    <pc:docChg chg="custSel modSld">
      <pc:chgData name="milan parmar" userId="175a19daf6531ebf" providerId="LiveId" clId="{2460975F-5676-49DC-B4FD-E7C02D8FAD42}" dt="2025-11-22T05:10:31.304" v="41" actId="20577"/>
      <pc:docMkLst>
        <pc:docMk/>
      </pc:docMkLst>
      <pc:sldChg chg="modSp mod">
        <pc:chgData name="milan parmar" userId="175a19daf6531ebf" providerId="LiveId" clId="{2460975F-5676-49DC-B4FD-E7C02D8FAD42}" dt="2025-11-22T04:58:27.227" v="2"/>
        <pc:sldMkLst>
          <pc:docMk/>
          <pc:sldMk cId="3339554045" sldId="274"/>
        </pc:sldMkLst>
        <pc:spChg chg="mod">
          <ac:chgData name="milan parmar" userId="175a19daf6531ebf" providerId="LiveId" clId="{2460975F-5676-49DC-B4FD-E7C02D8FAD42}" dt="2025-11-22T04:58:12.385" v="1" actId="255"/>
          <ac:spMkLst>
            <pc:docMk/>
            <pc:sldMk cId="3339554045" sldId="274"/>
            <ac:spMk id="2" creationId="{00000000-0000-0000-0000-000000000000}"/>
          </ac:spMkLst>
        </pc:spChg>
        <pc:spChg chg="mod">
          <ac:chgData name="milan parmar" userId="175a19daf6531ebf" providerId="LiveId" clId="{2460975F-5676-49DC-B4FD-E7C02D8FAD42}" dt="2025-11-22T04:58:27.227" v="2"/>
          <ac:spMkLst>
            <pc:docMk/>
            <pc:sldMk cId="3339554045" sldId="274"/>
            <ac:spMk id="3" creationId="{00000000-0000-0000-0000-000000000000}"/>
          </ac:spMkLst>
        </pc:spChg>
      </pc:sldChg>
      <pc:sldChg chg="modSp mod">
        <pc:chgData name="milan parmar" userId="175a19daf6531ebf" providerId="LiveId" clId="{2460975F-5676-49DC-B4FD-E7C02D8FAD42}" dt="2025-11-22T05:05:15.880" v="32" actId="20577"/>
        <pc:sldMkLst>
          <pc:docMk/>
          <pc:sldMk cId="3252008090" sldId="276"/>
        </pc:sldMkLst>
        <pc:spChg chg="mod">
          <ac:chgData name="milan parmar" userId="175a19daf6531ebf" providerId="LiveId" clId="{2460975F-5676-49DC-B4FD-E7C02D8FAD42}" dt="2025-11-22T05:05:15.880" v="32" actId="20577"/>
          <ac:spMkLst>
            <pc:docMk/>
            <pc:sldMk cId="3252008090" sldId="276"/>
            <ac:spMk id="2" creationId="{00000000-0000-0000-0000-000000000000}"/>
          </ac:spMkLst>
        </pc:spChg>
        <pc:spChg chg="mod">
          <ac:chgData name="milan parmar" userId="175a19daf6531ebf" providerId="LiveId" clId="{2460975F-5676-49DC-B4FD-E7C02D8FAD42}" dt="2025-11-22T05:05:01.822" v="30" actId="14100"/>
          <ac:spMkLst>
            <pc:docMk/>
            <pc:sldMk cId="3252008090" sldId="276"/>
            <ac:spMk id="3" creationId="{00000000-0000-0000-0000-000000000000}"/>
          </ac:spMkLst>
        </pc:spChg>
      </pc:sldChg>
      <pc:sldChg chg="modSp mod">
        <pc:chgData name="milan parmar" userId="175a19daf6531ebf" providerId="LiveId" clId="{2460975F-5676-49DC-B4FD-E7C02D8FAD42}" dt="2025-11-22T05:09:41.262" v="36" actId="2711"/>
        <pc:sldMkLst>
          <pc:docMk/>
          <pc:sldMk cId="1419453836" sldId="277"/>
        </pc:sldMkLst>
        <pc:spChg chg="mod">
          <ac:chgData name="milan parmar" userId="175a19daf6531ebf" providerId="LiveId" clId="{2460975F-5676-49DC-B4FD-E7C02D8FAD42}" dt="2025-11-22T05:09:41.262" v="36" actId="2711"/>
          <ac:spMkLst>
            <pc:docMk/>
            <pc:sldMk cId="1419453836" sldId="277"/>
            <ac:spMk id="2" creationId="{00000000-0000-0000-0000-000000000000}"/>
          </ac:spMkLst>
        </pc:spChg>
        <pc:spChg chg="mod">
          <ac:chgData name="milan parmar" userId="175a19daf6531ebf" providerId="LiveId" clId="{2460975F-5676-49DC-B4FD-E7C02D8FAD42}" dt="2025-11-22T05:06:02.834" v="33"/>
          <ac:spMkLst>
            <pc:docMk/>
            <pc:sldMk cId="1419453836" sldId="277"/>
            <ac:spMk id="3" creationId="{00000000-0000-0000-0000-000000000000}"/>
          </ac:spMkLst>
        </pc:spChg>
      </pc:sldChg>
      <pc:sldChg chg="modSp mod">
        <pc:chgData name="milan parmar" userId="175a19daf6531ebf" providerId="LiveId" clId="{2460975F-5676-49DC-B4FD-E7C02D8FAD42}" dt="2025-11-22T05:10:31.304" v="41" actId="20577"/>
        <pc:sldMkLst>
          <pc:docMk/>
          <pc:sldMk cId="2054880847" sldId="278"/>
        </pc:sldMkLst>
        <pc:spChg chg="mod">
          <ac:chgData name="milan parmar" userId="175a19daf6531ebf" providerId="LiveId" clId="{2460975F-5676-49DC-B4FD-E7C02D8FAD42}" dt="2025-11-22T05:10:31.304" v="41" actId="20577"/>
          <ac:spMkLst>
            <pc:docMk/>
            <pc:sldMk cId="2054880847" sldId="2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D4573-58E7-4156-A133-2731F5F8D1A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B0CF2-7F87-4E02-A248-870047730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gu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1D30-C0A0-4124-A783-34D9F15FA0F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75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077-7188-48C5-8679-2287FAC952E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0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740-6776-4EE9-99FD-96D592FA5A23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8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BD99-6FFD-46C5-B5E2-43A34BDA256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7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678E-214C-4CF8-97C7-95015FB02960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660E0-FA77-4473-A859-74127B089143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9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D7B8-9F07-4899-827D-5F3CFDDEB574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9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7C5C-1CD1-417D-A89C-14747F5222C7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43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gu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FBB-CFA1-4AA8-9123-F0B52DBD84FE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1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5871-AB0F-4B3D-8861-97E78CB7B47E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7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8406-4C3F-4F3E-80BD-A22568EA37EB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19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gu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gu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46459-E3C3-4969-9224-5ED50B492D17}" type="datetime1">
              <a:rPr lang="en-US" smtClean="0"/>
              <a:pPr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2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gu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09849"/>
          </a:xfrm>
        </p:spPr>
        <p:txBody>
          <a:bodyPr/>
          <a:lstStyle/>
          <a:p>
            <a:r>
              <a:rPr lang="en-US" dirty="0">
                <a:latin typeface="Sitka Display" panose="02000505000000020004" pitchFamily="2" charset="0"/>
              </a:rPr>
              <a:t>Hackathon Management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2447364"/>
            <a:ext cx="9144000" cy="3917577"/>
          </a:xfrm>
        </p:spPr>
        <p:txBody>
          <a:bodyPr>
            <a:normAutofit/>
          </a:bodyPr>
          <a:lstStyle/>
          <a:p>
            <a:r>
              <a:rPr lang="en-US" dirty="0">
                <a:latin typeface="Sitka Display" panose="02000505000000020004" pitchFamily="2" charset="0"/>
              </a:rPr>
              <a:t>Manish Desai - 240160510008</a:t>
            </a:r>
          </a:p>
          <a:p>
            <a:r>
              <a:rPr lang="en-US" dirty="0">
                <a:latin typeface="Sitka Display" panose="02000505000000020004" pitchFamily="2" charset="0"/>
              </a:rPr>
              <a:t>Milan Parmar – 240160510031</a:t>
            </a:r>
          </a:p>
          <a:p>
            <a:endParaRPr lang="en-US" dirty="0">
              <a:latin typeface="Sitka Display" panose="02000505000000020004" pitchFamily="2" charset="0"/>
            </a:endParaRPr>
          </a:p>
          <a:p>
            <a:pPr algn="l"/>
            <a:r>
              <a:rPr lang="en-US" sz="2000" dirty="0"/>
              <a:t>એમ.સી.એ સત્ર-3 </a:t>
            </a:r>
            <a:endParaRPr lang="en-IN" sz="2000" dirty="0"/>
          </a:p>
          <a:p>
            <a:pPr algn="l"/>
            <a:r>
              <a:rPr lang="en-US" sz="2000" dirty="0"/>
              <a:t>પ્રશ્નપત્ર નં.-  MCA-304  ના અભ્યાસક્રમના ભાગ રૂપે તૈયાર કરેલ પ્રોજેક્ટ વર્ષ-2025-26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માર્ગદર્શક: </a:t>
            </a:r>
            <a:r>
              <a:rPr lang="en-US" sz="2000" dirty="0" err="1"/>
              <a:t>ડો</a:t>
            </a:r>
            <a:r>
              <a:rPr lang="en-US" sz="2000" dirty="0"/>
              <a:t>. </a:t>
            </a:r>
            <a:r>
              <a:rPr lang="gu-IN" sz="2000" dirty="0"/>
              <a:t>અજય પરિખ  </a:t>
            </a:r>
            <a:endParaRPr lang="en-IN" sz="2000" dirty="0"/>
          </a:p>
          <a:p>
            <a:endParaRPr lang="en-US" dirty="0">
              <a:latin typeface="Sitka Display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Georgia" panose="02040502050405020303" pitchFamily="18" charset="0"/>
              </a:rPr>
              <a:t>Agenda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gu-IN" sz="2400" dirty="0">
                <a:cs typeface="+mj-cs"/>
              </a:rPr>
              <a:t>હાલની પ્રણાલી</a:t>
            </a:r>
            <a:r>
              <a:rPr lang="en-IN" sz="2400" dirty="0">
                <a:cs typeface="+mj-cs"/>
              </a:rPr>
              <a:t>(</a:t>
            </a:r>
            <a:r>
              <a:rPr lang="en-IN" sz="2400" dirty="0" err="1">
                <a:cs typeface="+mj-cs"/>
              </a:rPr>
              <a:t>DevPost</a:t>
            </a:r>
            <a:r>
              <a:rPr lang="en-IN" sz="2400" dirty="0">
                <a:cs typeface="+mj-cs"/>
              </a:rPr>
              <a:t>)</a:t>
            </a:r>
            <a:endParaRPr lang="en-IN" sz="2700" dirty="0">
              <a:effectLst/>
              <a:ea typeface="MS Mincho" panose="02020609040205080304" pitchFamily="49" charset="-128"/>
              <a:cs typeface="+mj-cs"/>
            </a:endParaRPr>
          </a:p>
          <a:p>
            <a:r>
              <a:rPr lang="gu-IN" sz="2700" dirty="0">
                <a:effectLst/>
                <a:ea typeface="MS Mincho" panose="02020609040205080304" pitchFamily="49" charset="-128"/>
                <a:cs typeface="+mj-cs"/>
              </a:rPr>
              <a:t>પરિચય </a:t>
            </a:r>
            <a:endParaRPr lang="en-US" sz="2700" dirty="0">
              <a:effectLst/>
              <a:ea typeface="MS Mincho" panose="02020609040205080304" pitchFamily="49" charset="-128"/>
              <a:cs typeface="+mj-cs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27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+mj-cs"/>
              </a:rPr>
              <a:t>હેકાથોન મેનેજમેન્ટની મુખ્ય વિશેષતાઓ</a:t>
            </a:r>
            <a:endParaRPr lang="en-US" sz="27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+mj-cs"/>
            </a:endParaRPr>
          </a:p>
          <a:p>
            <a:r>
              <a:rPr lang="gu-IN" sz="27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+mj-cs"/>
              </a:rPr>
              <a:t>ટેકનોલોજી વિશે</a:t>
            </a:r>
            <a:endParaRPr lang="en-US" sz="27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+mj-cs"/>
            </a:endParaRPr>
          </a:p>
          <a:p>
            <a:r>
              <a:rPr lang="gu-IN" sz="27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+mj-cs"/>
              </a:rPr>
              <a:t>પ્રોજેક્ટ આર્કિટેક્ચર</a:t>
            </a:r>
            <a:endParaRPr lang="en-US" sz="2700" dirty="0">
              <a:latin typeface="Georgia" panose="02040502050405020303" pitchFamily="18" charset="0"/>
              <a:cs typeface="+mj-cs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27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+mj-cs"/>
              </a:rPr>
              <a:t>ડેટાબેઝ સ્કીમા</a:t>
            </a:r>
            <a:endParaRPr lang="en-US" sz="27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3D96-5939-483C-B56C-8AC548A9F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4428"/>
          </a:xfrm>
        </p:spPr>
        <p:txBody>
          <a:bodyPr>
            <a:normAutofit/>
          </a:bodyPr>
          <a:lstStyle/>
          <a:p>
            <a:r>
              <a:rPr lang="gu-IN" sz="2800" b="1" dirty="0"/>
              <a:t>હાલની પ્રણાલી</a:t>
            </a:r>
            <a:r>
              <a:rPr lang="en-IN" sz="2800" b="1" dirty="0"/>
              <a:t>(</a:t>
            </a:r>
            <a:r>
              <a:rPr lang="en-IN" sz="2800" b="1" dirty="0" err="1"/>
              <a:t>DevPost</a:t>
            </a:r>
            <a:r>
              <a:rPr lang="en-IN" sz="2800" b="1" dirty="0"/>
              <a:t>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B0C5B-9BB6-4871-B094-9B0D7F6F1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554"/>
            <a:ext cx="10515600" cy="504740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IN" sz="1800" dirty="0" err="1"/>
              <a:t>Devpost</a:t>
            </a:r>
            <a:r>
              <a:rPr lang="en-IN" sz="1800" dirty="0"/>
              <a:t> </a:t>
            </a:r>
            <a:r>
              <a:rPr lang="gu-IN" sz="1800" dirty="0"/>
              <a:t>એક ઓનલાઈન હેકાથોન મેનેજમેન્ટ પ્લેટફોર્મ છે જ્યાં ઓર્ગેનાઇઝર્સ સરળતાથી હેકાથોન બનાવી શકે છે અને ભાગ લેનારાઓ ઓનલાઇન રજીસ્ટર થઈ શકે છે.</a:t>
            </a:r>
          </a:p>
          <a:p>
            <a:pPr>
              <a:lnSpc>
                <a:spcPct val="110000"/>
              </a:lnSpc>
            </a:pPr>
            <a:r>
              <a:rPr lang="gu-IN" sz="1900" b="1" dirty="0"/>
              <a:t>મુખ્ય સુવિધાઓ: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હેકાથોન હોસ્ટિંગ:</a:t>
            </a:r>
            <a:br>
              <a:rPr lang="gu-IN" sz="1800" dirty="0"/>
            </a:br>
            <a:r>
              <a:rPr lang="en-IN" sz="1800" dirty="0" err="1"/>
              <a:t>Devpost</a:t>
            </a:r>
            <a:r>
              <a:rPr lang="en-IN" sz="1800" dirty="0"/>
              <a:t> </a:t>
            </a:r>
            <a:r>
              <a:rPr lang="gu-IN" sz="1800" dirty="0"/>
              <a:t>ઓર્ગેનાઇઝર્સને </a:t>
            </a:r>
            <a:r>
              <a:rPr lang="en-IN" sz="1800" dirty="0"/>
              <a:t>Public </a:t>
            </a:r>
            <a:r>
              <a:rPr lang="gu-IN" sz="1800" dirty="0"/>
              <a:t>અથવા </a:t>
            </a:r>
            <a:r>
              <a:rPr lang="en-IN" sz="1800" dirty="0"/>
              <a:t>Internal/Company Level </a:t>
            </a:r>
            <a:r>
              <a:rPr lang="gu-IN" sz="1800" dirty="0"/>
              <a:t>હેકાથોન સરળતાથી હોસ્ટ કરવાની સુવિધા આપે છે.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ઓનલાઇન રજીસ્ટ્રેશન:</a:t>
            </a:r>
            <a:br>
              <a:rPr lang="gu-IN" sz="1800" dirty="0"/>
            </a:br>
            <a:r>
              <a:rPr lang="gu-IN" sz="1800" dirty="0"/>
              <a:t>ભાગ લેનારાઓ સરળ રીતે ઓનલાઇન રજીસ્ટર થઈ શકે છે.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ટીમ રચના:</a:t>
            </a:r>
            <a:br>
              <a:rPr lang="gu-IN" sz="1800" dirty="0"/>
            </a:br>
            <a:r>
              <a:rPr lang="gu-IN" sz="1800" dirty="0"/>
              <a:t>પ્રતિભાગીઓ પોતાની ટીમ બનાવી શકે છે અથવા હાજર ટીમમાં જોડાઈ શકે છે.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પ્રોજેક્ટ સબમિશન:</a:t>
            </a:r>
            <a:br>
              <a:rPr lang="gu-IN" sz="1800" dirty="0"/>
            </a:br>
            <a:r>
              <a:rPr lang="gu-IN" sz="1800" dirty="0"/>
              <a:t>ટીમો તેમના પ્રોજેક્ટની વિગત, કોડ અને ડેમો ઓનલાઇન સબમિટ કરી શકે છે.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જજિંગ અને સ્કોરિંગ:</a:t>
            </a:r>
            <a:br>
              <a:rPr lang="gu-IN" sz="1800" dirty="0"/>
            </a:br>
            <a:r>
              <a:rPr lang="gu-IN" sz="1800" dirty="0"/>
              <a:t>જજીઝ પ્રોજેક્ટનું મૂલ્યાંકન કરીને સ્કોર સબમિટ કરી શકે છે.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ઇમેલ અપડેટ્સ:</a:t>
            </a:r>
            <a:br>
              <a:rPr lang="gu-IN" sz="1800" dirty="0"/>
            </a:br>
            <a:r>
              <a:rPr lang="gu-IN" sz="1800" dirty="0"/>
              <a:t>ભાગ લેનારાઓ અને ટીમોને સ્વચાલિત ઇમેલ દ્વારા જરૂરી અપડેટ્સ મળે છે.</a:t>
            </a:r>
          </a:p>
          <a:p>
            <a:pPr>
              <a:lnSpc>
                <a:spcPct val="110000"/>
              </a:lnSpc>
            </a:pPr>
            <a:r>
              <a:rPr lang="gu-IN" sz="1800" b="1" dirty="0"/>
              <a:t>પરિણામ જાહેર:</a:t>
            </a:r>
            <a:br>
              <a:rPr lang="gu-IN" sz="1800" dirty="0"/>
            </a:br>
            <a:r>
              <a:rPr lang="gu-IN" sz="1800" dirty="0"/>
              <a:t>વિજેતાઓ અને અંતિમ પરિણામ ઓનલાઇન જાહેર કરવામાં આવે છે.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207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8272"/>
            <a:ext cx="10515600" cy="1021886"/>
          </a:xfrm>
        </p:spPr>
        <p:txBody>
          <a:bodyPr/>
          <a:lstStyle/>
          <a:p>
            <a:r>
              <a:rPr lang="gu-IN" sz="44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પરિચય </a:t>
            </a:r>
            <a:endParaRPr lang="en-US" sz="4400" dirty="0">
              <a:effectLst/>
              <a:ea typeface="MS Mincho" panose="02020609040205080304" pitchFamily="49" charset="-128"/>
              <a:cs typeface="Nirmala UI" panose="020B0502040204020203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29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Georgia" panose="02040502050405020303" pitchFamily="18" charset="0"/>
            </a:endParaRPr>
          </a:p>
          <a:p>
            <a:pPr marL="365760" lvl="1" indent="0">
              <a:buNone/>
            </a:pPr>
            <a:endParaRPr lang="en-US" sz="22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E2626-59F5-7C57-11C7-01FE14D5D750}"/>
              </a:ext>
            </a:extLst>
          </p:cNvPr>
          <p:cNvSpPr txBox="1"/>
          <p:nvPr/>
        </p:nvSpPr>
        <p:spPr>
          <a:xfrm>
            <a:off x="955497" y="1186595"/>
            <a:ext cx="9308386" cy="487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મેનેજમેન્ટ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સિસ્ટમ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એક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વેબ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આધારિત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આધુનિક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ડિજિટલ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સિસ્ટમ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બધા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કામ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આયોજન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નોંધણી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સહભાગીઓની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એન્ટ્રી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બનાવવી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પ્રોજેક્ટ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સબમિશન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જજ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થી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ફાઈનલ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રિઝલ્ટ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સુધિ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સંપૂર્ણ</a:t>
            </a: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 </a:t>
            </a:r>
            <a:r>
              <a:rPr lang="gu-IN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રીતે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બનાવા</a:t>
            </a:r>
            <a:r>
              <a:rPr lang="gu-IN" dirty="0"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</a:t>
            </a:r>
            <a:r>
              <a:rPr lang="gu-IN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 આવ્યુ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સિસ્ટમ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સ્પ્રિંગ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બૂટ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ફ્રેમવર્ક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ઉપર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બિલ્ડ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એટલે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સુરક્ષિત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ઝડપી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સ્કેલેબલ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સિસ્ટમ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નો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મુખ્ય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હેતુ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વિદ્યાર્થી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આયોજક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ન્યાયધીશ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બધા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ની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સાથે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હેકાથોનનું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સંચાલન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સરળ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બને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 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યુઝર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ઓનલાઈન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 મા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ભાગ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લઈ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શકે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પોતાની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બનાવી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શકે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ડ્રાઇવ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લિંક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અપલોડ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શકે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અંતિમ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પરિણામ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ઈમેલ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પણ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મે</a:t>
            </a:r>
            <a:r>
              <a:rPr lang="gu-IN" dirty="0">
                <a:latin typeface="Nirmala UI" panose="020B0502040204020203" pitchFamily="34" charset="0"/>
                <a:ea typeface="MS Mincho" panose="02020609040205080304" pitchFamily="49" charset="-128"/>
              </a:rPr>
              <a:t>ળ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શકે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પૂરી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પ્રક્રિયા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ડિજિટલ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હોય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એટલ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પેપર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વર્ક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મેન્યુઅલ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ચેકિંગ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dirty="0"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ભૂલો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ઘટે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gu-IN" dirty="0">
                <a:cs typeface="+mj-cs"/>
              </a:rPr>
              <a:t>અમારી સિસ્ટમમાં </a:t>
            </a:r>
            <a:r>
              <a:rPr lang="en-IN" dirty="0">
                <a:cs typeface="+mj-cs"/>
              </a:rPr>
              <a:t>Login </a:t>
            </a:r>
            <a:r>
              <a:rPr lang="gu-IN" dirty="0">
                <a:cs typeface="+mj-cs"/>
              </a:rPr>
              <a:t>અને </a:t>
            </a:r>
            <a:r>
              <a:rPr lang="en-IN" dirty="0">
                <a:cs typeface="+mj-cs"/>
              </a:rPr>
              <a:t>Registration </a:t>
            </a:r>
            <a:r>
              <a:rPr lang="gu-IN" dirty="0">
                <a:cs typeface="+mj-cs"/>
              </a:rPr>
              <a:t>સુવિધા સુરક્ષિત અને સરળ છે, જેના દ્વારા યુઝર્સ ખાતું બનાવી શકે છે અને તેમની વિગતો સાથે સિસ્ટમમાં પ્રવેશ મેળવી શકે છે.</a:t>
            </a:r>
            <a:endParaRPr lang="en-IN" dirty="0">
              <a:cs typeface="+mj-cs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gu-IN" dirty="0">
                <a:cs typeface="+mj-cs"/>
              </a:rPr>
              <a:t>સિસ્ટમમાં </a:t>
            </a:r>
            <a:r>
              <a:rPr lang="en-IN" dirty="0">
                <a:cs typeface="+mj-cs"/>
              </a:rPr>
              <a:t>Profile </a:t>
            </a:r>
            <a:r>
              <a:rPr lang="gu-IN" dirty="0">
                <a:cs typeface="+mj-cs"/>
              </a:rPr>
              <a:t>સુવિધા યુઝર્સને તેમની વ્યક્તિગત માહિતી મેનેજ અને અપડેટ કરવાની સરળ રીત આપે છે. દરેક યુઝર પોતાની ઓળખ અને વિગતો સુરક્ષિત રીતે સંભાળી શકે છે.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09918" y="438858"/>
            <a:ext cx="10515600" cy="908636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</a:t>
            </a: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મેનેજમેન્ટની</a:t>
            </a: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મુખ્ય</a:t>
            </a: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40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વિશેષતાઓ</a:t>
            </a:r>
            <a:endParaRPr lang="en-US" sz="40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553682"/>
            <a:ext cx="10515600" cy="4700894"/>
          </a:xfrm>
        </p:spPr>
        <p:txBody>
          <a:bodyPr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યુઝર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નોંધણી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લોગિન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-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સુરક્ષિત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લોગિન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JWT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આધાર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ઉપર હોય 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gu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•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બનાવટ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-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વપરાશકર્તા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5 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સભ્યો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સાથે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બનાવી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શકે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gu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•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મેનેજમેન્ટ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-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સભ્યો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બનાવા કે દુર કરવા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ની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સુવિધા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/>
              <a:t>ટીમ બનાવતી વખતે પ્રોજેક્ટ/ફાઇલ્સ માટે</a:t>
            </a:r>
            <a:r>
              <a:rPr lang="gu-IN" sz="1800" dirty="0">
                <a:ea typeface="MS Mincho" panose="02020609040205080304" pitchFamily="49" charset="-128"/>
                <a:cs typeface="Nirmala UI" panose="020B0502040204020203" pitchFamily="34" charset="0"/>
              </a:rPr>
              <a:t>ની</a:t>
            </a:r>
            <a:r>
              <a:rPr lang="gu-IN" sz="1800" dirty="0"/>
              <a:t> </a:t>
            </a:r>
            <a:r>
              <a:rPr lang="en-IN" sz="1800" b="1" dirty="0"/>
              <a:t>Google Drive Link </a:t>
            </a:r>
            <a:r>
              <a:rPr lang="gu-IN" sz="1800" dirty="0"/>
              <a:t>આપે છે</a:t>
            </a:r>
            <a:r>
              <a:rPr lang="en-IN" sz="1800" dirty="0"/>
              <a:t>.</a:t>
            </a:r>
            <a:endParaRPr lang="gu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હેકાથોન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મા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જોડાઓ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-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ઉપલબ્ધ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હેકાથોન્સ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માથી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કોઈ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પણ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</a:t>
            </a:r>
            <a:r>
              <a:rPr lang="en-IN" sz="18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 </a:t>
            </a:r>
            <a:r>
              <a:rPr lang="gu-IN" sz="1800" dirty="0">
                <a:ea typeface="MS Mincho" panose="02020609040205080304" pitchFamily="49" charset="-128"/>
                <a:cs typeface="Nirmala UI" panose="020B0502040204020203" pitchFamily="34" charset="0"/>
              </a:rPr>
              <a:t>મા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જોડાઈ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કરી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શકે 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gu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ન્યાયધીશ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પેનલ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–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ન્યાયધીશો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/>
              <a:t>પ્રોજેક્ટ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ને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જોવે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અને ટિમ સીલેક્ટ કરે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અને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વિજેતા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ટીમોની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પસંદગી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ણ કરે છે.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એડમિન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ડેશબોર્ડ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–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હેકાથોન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બનાવે 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/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અપડેટ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કરે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/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મેનેજ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કરે 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તે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ની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પુરી</a:t>
            </a:r>
            <a:r>
              <a:rPr lang="gu-IN" sz="1800" dirty="0">
                <a:effectLst/>
                <a:ea typeface="MS Mincho" panose="02020609040205080304" pitchFamily="49" charset="-128"/>
                <a:cs typeface="Cambria" panose="02040503050406030204" pitchFamily="18" charset="0"/>
              </a:rPr>
              <a:t> </a:t>
            </a:r>
            <a:r>
              <a:rPr lang="gu-IN" sz="18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સુવિધા </a:t>
            </a:r>
            <a:r>
              <a:rPr lang="gu-IN" sz="1700" dirty="0">
                <a:effectLst/>
                <a:ea typeface="MS Mincho" panose="02020609040205080304" pitchFamily="49" charset="-128"/>
                <a:cs typeface="Nirmala UI" panose="020B0502040204020203" pitchFamily="34" charset="0"/>
              </a:rPr>
              <a:t>એડમિન મેનેજ કરે છે.</a:t>
            </a:r>
            <a:endParaRPr lang="en-IN" sz="1700" dirty="0">
              <a:effectLst/>
              <a:ea typeface="MS Mincho" panose="02020609040205080304" pitchFamily="49" charset="-128"/>
              <a:cs typeface="Nirmala UI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/>
              <a:t>ઈવેન્ટમાં પસંદ થયેલી ટીમોને </a:t>
            </a:r>
            <a:r>
              <a:rPr lang="en-IN" sz="1800" b="1" dirty="0"/>
              <a:t>Certificate </a:t>
            </a:r>
            <a:r>
              <a:rPr lang="gu-IN" sz="1800" b="1" dirty="0"/>
              <a:t>અને </a:t>
            </a:r>
            <a:r>
              <a:rPr lang="en-IN" sz="1800" b="1" dirty="0"/>
              <a:t>Pass </a:t>
            </a:r>
            <a:r>
              <a:rPr lang="gu-IN" sz="1800" b="1" dirty="0"/>
              <a:t>મોકલી દેશે</a:t>
            </a:r>
            <a:r>
              <a:rPr lang="gu-IN" sz="1800" dirty="0"/>
              <a:t>.</a:t>
            </a:r>
            <a:endParaRPr lang="en-US" sz="17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00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3361387" cy="85425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Sitka Display" panose="02000505000000020004" pitchFamily="2" charset="0"/>
              </a:rPr>
              <a:t>Use Case Diagram</a:t>
            </a:r>
          </a:p>
          <a:p>
            <a:r>
              <a:rPr lang="en-US" sz="2400" b="1" dirty="0">
                <a:latin typeface="Sitka Display" panose="02000505000000020004" pitchFamily="2" charset="0"/>
              </a:rPr>
              <a:t>(User)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8C9599-58C9-911F-288F-628B11FA87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1258" y="1008044"/>
            <a:ext cx="6665777" cy="52599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59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3361387" cy="85425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Sitka Display" panose="02000505000000020004" pitchFamily="2" charset="0"/>
              </a:rPr>
              <a:t>Use Case Diagram</a:t>
            </a:r>
          </a:p>
          <a:p>
            <a:r>
              <a:rPr lang="en-US" sz="2400" b="1" dirty="0">
                <a:latin typeface="Sitka Display" panose="02000505000000020004" pitchFamily="2" charset="0"/>
              </a:rPr>
              <a:t>(Admin)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D4961A-7154-4111-D664-8F94374D4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719" y="697590"/>
            <a:ext cx="5710896" cy="5479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175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47425" y="396215"/>
            <a:ext cx="3361387" cy="85425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Sitka Display" panose="02000505000000020004" pitchFamily="2" charset="0"/>
              </a:rPr>
              <a:t> Data Flow Diagram</a:t>
            </a:r>
          </a:p>
        </p:txBody>
      </p:sp>
      <p:pic>
        <p:nvPicPr>
          <p:cNvPr id="8" name="Content Placeholder 7" descr="A diagram of a hackathon management system">
            <a:extLst>
              <a:ext uri="{FF2B5EF4-FFF2-40B4-BE49-F238E27FC236}">
                <a16:creationId xmlns:a16="http://schemas.microsoft.com/office/drawing/2014/main" id="{318A8237-EC94-06AD-7D44-357315685C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26085" y="-1"/>
            <a:ext cx="7669143" cy="660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05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0"/>
            <a:ext cx="3361387" cy="85425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Sitka Display" panose="02000505000000020004" pitchFamily="2" charset="0"/>
              </a:rPr>
              <a:t>Activity Diagram (user)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EAABEA-7002-10C7-2DB4-7EA14CA05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842" y="214922"/>
            <a:ext cx="5183773" cy="6132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929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8D0FD-E5D6-ECD9-398C-E59E8FB1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88802" cy="1325563"/>
          </a:xfrm>
        </p:spPr>
        <p:txBody>
          <a:bodyPr>
            <a:normAutofit/>
          </a:bodyPr>
          <a:lstStyle/>
          <a:p>
            <a:r>
              <a:rPr lang="en-US" sz="2700" b="1" dirty="0">
                <a:latin typeface="Sitka Display" panose="02000505000000020004" pitchFamily="2" charset="0"/>
              </a:rPr>
              <a:t>Activity Diagram (Admin)</a:t>
            </a:r>
            <a:br>
              <a:rPr lang="en-US" sz="4400" b="1" dirty="0">
                <a:latin typeface="Sitka Display" panose="02000505000000020004" pitchFamily="2" charset="0"/>
              </a:rPr>
            </a:br>
            <a:endParaRPr lang="en-US" dirty="0"/>
          </a:p>
        </p:txBody>
      </p:sp>
      <p:pic>
        <p:nvPicPr>
          <p:cNvPr id="6" name="Content Placeholder 5" descr="A diagram of a flowchart&#10;&#10;AI-generated content may be incorrect.">
            <a:extLst>
              <a:ext uri="{FF2B5EF4-FFF2-40B4-BE49-F238E27FC236}">
                <a16:creationId xmlns:a16="http://schemas.microsoft.com/office/drawing/2014/main" id="{DFFCACB9-F02F-3F18-C87E-E8B424349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091" y="365125"/>
            <a:ext cx="4848971" cy="6293492"/>
          </a:xfrm>
        </p:spPr>
      </p:pic>
    </p:spTree>
    <p:extLst>
      <p:ext uri="{BB962C8B-B14F-4D97-AF65-F5344CB8AC3E}">
        <p14:creationId xmlns:p14="http://schemas.microsoft.com/office/powerpoint/2010/main" val="384258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5D5B-6626-ED75-2056-48BD3E06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97132" cy="1460500"/>
          </a:xfrm>
        </p:spPr>
        <p:txBody>
          <a:bodyPr>
            <a:normAutofit/>
          </a:bodyPr>
          <a:lstStyle/>
          <a:p>
            <a:r>
              <a:rPr lang="en-US" sz="2400" b="1" kern="1200" dirty="0">
                <a:solidFill>
                  <a:srgbClr val="000000"/>
                </a:solidFill>
                <a:effectLst/>
                <a:latin typeface="Sitka Display" panose="02000505000000020004" pitchFamily="2" charset="0"/>
                <a:ea typeface="+mn-ea"/>
                <a:cs typeface="+mn-cs"/>
              </a:rPr>
              <a:t>Activity Diagram (Judge)</a:t>
            </a:r>
            <a:br>
              <a:rPr lang="en-US" sz="2400" dirty="0">
                <a:effectLst/>
              </a:rPr>
            </a:br>
            <a:endParaRPr lang="en-US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0FD846-D85C-9F23-0CBD-79D00F243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861" y="144222"/>
            <a:ext cx="3680695" cy="6211421"/>
          </a:xfrm>
        </p:spPr>
      </p:pic>
    </p:spTree>
    <p:extLst>
      <p:ext uri="{BB962C8B-B14F-4D97-AF65-F5344CB8AC3E}">
        <p14:creationId xmlns:p14="http://schemas.microsoft.com/office/powerpoint/2010/main" val="1097831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ટેકનોલોજી</a:t>
            </a: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વિશે</a:t>
            </a:r>
            <a:endParaRPr lang="en-US" sz="44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Nirmala UI" panose="020B0502040204020203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sz="1800" b="1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ટેકનોલોજી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સરળતા</a:t>
            </a:r>
            <a:r>
              <a:rPr lang="en-US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કામગીરી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સુરક્ષા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માટે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પસંદ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કરવામાં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આવી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</a:t>
            </a:r>
            <a:endParaRPr lang="en-US" sz="22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ફ્રન્ટેન્ડ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 </a:t>
            </a:r>
            <a:r>
              <a:rPr lang="en-US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HTML, CSS, JavaScript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બેકએન્ડ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સ્પ્રિંગ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બૂટ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(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જાવા</a:t>
            </a:r>
            <a:r>
              <a:rPr lang="gu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)</a:t>
            </a:r>
            <a:r>
              <a:rPr lang="en-IN" sz="22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,Hibernate</a:t>
            </a:r>
            <a:endParaRPr lang="en-US" sz="22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ડેટાબેઝ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MySQL —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સ્થિર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રિલેશનલ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ડેટાબેઝ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જેમાં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ડેટા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મૂકવામા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•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પ્રમાણીકરણ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JWT —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સલામત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લોગિન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અને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રોલ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આધારિત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એક્સેસ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કંટ્રોલ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સાધનો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VS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કોડ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IntelliJ IDEA —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શક્તિશાળી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IDEs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સાથે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કોડિંગ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457200" lvl="1" indent="0">
              <a:buNone/>
            </a:pPr>
            <a:endParaRPr lang="en-US" dirty="0">
              <a:latin typeface="Sitka Display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3805"/>
          </a:xfrm>
        </p:spPr>
        <p:txBody>
          <a:bodyPr>
            <a:normAutofit fontScale="90000"/>
          </a:bodyPr>
          <a:lstStyle/>
          <a:p>
            <a:b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</a:b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પ્રોજેક્ટ</a:t>
            </a: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આર્કિટેક્ચર</a:t>
            </a:r>
            <a:br>
              <a:rPr lang="en-US" sz="4400" dirty="0">
                <a:latin typeface="Georgia" panose="02040502050405020303" pitchFamily="18" charset="0"/>
              </a:rPr>
            </a:br>
            <a:endParaRPr lang="en-US" b="1" dirty="0">
              <a:latin typeface="Sitka Display" panose="02000505000000020004" pitchFamily="2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મોડેલ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વ્યૂ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-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કંટ્રોલર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(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MVC)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સ્ટ્રક્ચર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મોડલ 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→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ડેટા હેન્ડલ કરે છે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 (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વપરાશકર્તાઓ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ટીમો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હેકાથોન માહિતી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સબમિશન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) 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વ્યૂ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→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યુઝર ને જે યુઆઈ દેખાઈ છે એ પાર્ટ હેન્ડલ કરે છે.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કંટ્રોલર 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→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બેકએન્ડ લોજિક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રિક્વેસ્ટ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/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રિસ્પોન્સ હેન્ડલિંગ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વેલિડેશન બધુ કંટ્રોલ કરે છે 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MVC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થી સિસ્ટમ સ્વચ્છ</a:t>
            </a:r>
            <a:r>
              <a:rPr lang="en-US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Nirmala UI" panose="020B0502040204020203" pitchFamily="34" charset="0"/>
                <a:ea typeface="MS Mincho" panose="02020609040205080304" pitchFamily="49" charset="-128"/>
                <a:cs typeface="Shruti" panose="020B0502040204020203" pitchFamily="34" charset="0"/>
              </a:rPr>
              <a:t>સંગઠિત અને જાળવી રાખવા માટે સરળ બને છે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000" i="0" dirty="0"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8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236876"/>
            <a:ext cx="10515600" cy="888322"/>
          </a:xfrm>
        </p:spPr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ડેટાબેઝ</a:t>
            </a: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4400" dirty="0">
                <a:effectLst/>
                <a:latin typeface="Georgia" panose="02040502050405020303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સ્કીમા</a:t>
            </a:r>
            <a:endParaRPr lang="en-US" sz="4400" dirty="0">
              <a:effectLst/>
              <a:latin typeface="Georgia" panose="02040502050405020303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304818"/>
            <a:ext cx="10515600" cy="4872145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આ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સિસ્ટમ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કેટલાક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મહત્વપૂર્ણ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ટેબલ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: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Admin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-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એડમિન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લોગિન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વિગતો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સ્ટોર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Hackathon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-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હેકાથોનનું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પુરો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વર્ણન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તારીખ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નિયમો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ઈનામ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વગેરે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Registration -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લીડર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મૂળભૂત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માહિતી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સ્ટોર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(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ઈમેલ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કોર્સ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શહેર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પાસવર્ડ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).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Teams -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ટીમનું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નામ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કદ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ડ્રાઇવ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લિંક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,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કૉલેજ</a:t>
            </a: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/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યુનિવર્સિટી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વિગતો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સ્ટોર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.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TeamMemberDetail –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પ્રતિક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મેમ્બર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માહિતી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સ્ટોર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Judge -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ન્યાયાધીશ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લોગિન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વિગતો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સ્ટોર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કરે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.</a:t>
            </a:r>
            <a:endParaRPr lang="en-US" sz="1800" dirty="0"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Participant -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જે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Participant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/>
              <a:t>થઈ</a:t>
            </a:r>
            <a:r>
              <a:rPr lang="en-IN" sz="1800" dirty="0"/>
              <a:t> </a:t>
            </a:r>
            <a:r>
              <a:rPr lang="gu-IN" sz="1800" dirty="0"/>
              <a:t>હોય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</a:t>
            </a:r>
            <a:r>
              <a:rPr lang="gu-IN" sz="1800" dirty="0"/>
              <a:t>નો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રેકોર્ડ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રાખે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.</a:t>
            </a:r>
            <a:r>
              <a:rPr lang="gu-IN" sz="1800" dirty="0">
                <a:latin typeface="Cambria" panose="02040503050406030204" pitchFamily="18" charset="0"/>
                <a:ea typeface="MS Mincho" panose="02020609040205080304" pitchFamily="49" charset="-128"/>
              </a:rPr>
              <a:t> </a:t>
            </a:r>
            <a:endParaRPr lang="en-US" sz="1800" dirty="0"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WinnerSelection –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ટીમ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જીત્યા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એ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રેકોર્ડ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રાખે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છે</a:t>
            </a:r>
            <a:r>
              <a:rPr lang="en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Nirmala UI" panose="020B0502040204020203" pitchFamily="34" charset="0"/>
              </a:rPr>
              <a:t>.</a:t>
            </a:r>
            <a:r>
              <a:rPr lang="gu-IN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Shruti" panose="020B0502040204020203" pitchFamily="34" charset="0"/>
              </a:rPr>
              <a:t> 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Shruti" panose="020B0502040204020203" pitchFamily="34" charset="0"/>
            </a:endParaRPr>
          </a:p>
          <a:p>
            <a:pPr marL="914400" lvl="2" indent="0">
              <a:buNone/>
            </a:pPr>
            <a:endParaRPr lang="en-US" dirty="0">
              <a:latin typeface="Sitka Display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person with a computer&#10;&#10;AI-generated content may be incorrect.">
            <a:extLst>
              <a:ext uri="{FF2B5EF4-FFF2-40B4-BE49-F238E27FC236}">
                <a16:creationId xmlns:a16="http://schemas.microsoft.com/office/drawing/2014/main" id="{848EA1AA-5D50-97C2-88D2-E26B95524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970"/>
            <a:ext cx="12192000" cy="58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4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7BCA50-643A-1E10-054B-C13204E109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85" y="749243"/>
            <a:ext cx="10675798" cy="4696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987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F2F075-B3E9-8101-0E5B-087BBA8AA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38" y="780836"/>
            <a:ext cx="10976204" cy="52911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829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DA680-A056-4B5B-890A-F121C13FF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497608"/>
            <a:ext cx="11734800" cy="586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1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8213A-31D5-441F-81DE-ADBD0C842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0" y="0"/>
            <a:ext cx="116555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7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4D4DF1-EB6A-6D39-CC68-D5B61A409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355" y="1130157"/>
            <a:ext cx="10341347" cy="48391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996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345E0E-E86E-823D-EEF3-5BAA5198E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01" y="719191"/>
            <a:ext cx="11606880" cy="5486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28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1E1696-5578-4C50-2B70-66A4B29D9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22" y="1058238"/>
            <a:ext cx="10786234" cy="49624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042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572F7-BA98-A0F2-10FD-73A902255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92" y="780835"/>
            <a:ext cx="10701368" cy="50137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121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AE9B9D-0D8A-75AF-99CD-18A297209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77" y="904126"/>
            <a:ext cx="10890249" cy="5095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0832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470791-39E1-78C6-CC41-9A2E0F82B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41" y="832207"/>
            <a:ext cx="11638864" cy="53425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056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8D4EC8-D99E-6EF2-AEDD-C030EC711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72" y="893851"/>
            <a:ext cx="10275404" cy="46952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297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99066-B39D-CC36-1FB0-EB1023FE8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87" y="1006866"/>
            <a:ext cx="10936555" cy="51062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074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76C14B-E71D-419E-8975-57BD733BE1A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75" y="365013"/>
            <a:ext cx="10192871" cy="53186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181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6B451B-382B-4814-B807-B17827B1D72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188" y="444910"/>
            <a:ext cx="9493624" cy="5669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447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05B37D-DE06-45AB-8705-AC5ABD0E087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082" y="603362"/>
            <a:ext cx="9601199" cy="53940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648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C62817-74E6-47CD-82D7-91C61E5C2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18" y="540911"/>
            <a:ext cx="11636188" cy="57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1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F0AC76-FF66-4C13-A0C9-4E60C5D94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46" y="543281"/>
            <a:ext cx="11833413" cy="577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3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73994" y="2687434"/>
            <a:ext cx="11074400" cy="1143000"/>
          </a:xfrm>
        </p:spPr>
        <p:txBody>
          <a:bodyPr/>
          <a:lstStyle/>
          <a:p>
            <a:pPr algn="ctr"/>
            <a:r>
              <a:rPr lang="en-US" b="1" dirty="0">
                <a:latin typeface="Sitka Display" panose="02000505000000020004" pitchFamily="2" charset="0"/>
              </a:rPr>
              <a:t>Thank You….!</a:t>
            </a:r>
            <a:endParaRPr lang="gu-IN" b="1" dirty="0">
              <a:latin typeface="Sitka Display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04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</TotalTime>
  <Words>802</Words>
  <Application>Microsoft Office PowerPoint</Application>
  <PresentationFormat>Widescreen</PresentationFormat>
  <Paragraphs>75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MS Mincho</vt:lpstr>
      <vt:lpstr>Arial</vt:lpstr>
      <vt:lpstr>Calibri</vt:lpstr>
      <vt:lpstr>Calibri Light</vt:lpstr>
      <vt:lpstr>Cambria</vt:lpstr>
      <vt:lpstr>Georgia</vt:lpstr>
      <vt:lpstr>Nirmala UI</vt:lpstr>
      <vt:lpstr>Shruti</vt:lpstr>
      <vt:lpstr>Sitka Display</vt:lpstr>
      <vt:lpstr>Office Theme</vt:lpstr>
      <vt:lpstr>Hackathon Management</vt:lpstr>
      <vt:lpstr>Agenda</vt:lpstr>
      <vt:lpstr>હાલની પ્રણાલી(DevPost)</vt:lpstr>
      <vt:lpstr>પરિચય </vt:lpstr>
      <vt:lpstr>હેકાથોન મેનેજમેન્ટની મુખ્ય વિશેષતાઓ</vt:lpstr>
      <vt:lpstr>PowerPoint Presentation</vt:lpstr>
      <vt:lpstr>PowerPoint Presentation</vt:lpstr>
      <vt:lpstr> Data Flow Diagram</vt:lpstr>
      <vt:lpstr>PowerPoint Presentation</vt:lpstr>
      <vt:lpstr>Activity Diagram (Admin) </vt:lpstr>
      <vt:lpstr>Activity Diagram (Judge) </vt:lpstr>
      <vt:lpstr>ટેકનોલોજી વિશે</vt:lpstr>
      <vt:lpstr> પ્રોજેક્ટ આર્કિટેક્ચર </vt:lpstr>
      <vt:lpstr>ડેટાબેઝ સ્કીમા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You….!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StudyLab</dc:title>
  <dc:creator>admin</dc:creator>
  <cp:lastModifiedBy>Infinity</cp:lastModifiedBy>
  <cp:revision>83</cp:revision>
  <dcterms:created xsi:type="dcterms:W3CDTF">2024-11-17T12:27:12Z</dcterms:created>
  <dcterms:modified xsi:type="dcterms:W3CDTF">2025-11-26T03:17:06Z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